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267" r:id="rId26"/>
    <p:sldId id="268" r:id="rId25"/>
    <p:sldId id="372" r:id="rId14"/>
    <p:sldId id="263" r:id="rId22"/>
    <p:sldId id="262" r:id="rId21"/>
    <p:sldId id="371" r:id="rId17"/>
    <p:sldId id="374" r:id="rId18"/>
    <p:sldId id="269" r:id="rId27"/>
    <p:sldId id="370" r:id="rId16"/>
    <p:sldId id="260" r:id="rId19"/>
    <p:sldId id="369" r:id="rId13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3" autoAdjust="0"/>
    <p:restoredTop sz="95857"/>
  </p:normalViewPr>
  <p:slideViewPr>
    <p:cSldViewPr snapToGrid="0" showGuides="1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Наш подбор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P@5</c:v>
                </c:pt>
                <c:pt idx="1">
                  <c:v>P@10</c:v>
                </c:pt>
                <c:pt idx="2">
                  <c:v>nDCG@10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0.94</c:v>
                </c:pt>
                <c:pt idx="1">
                  <c:v>0.87</c:v>
                </c:pt>
                <c:pt idx="2">
                  <c:v>0.77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 ключевым словам</c:v>
                </c:pt>
              </c:strCache>
            </c:strRef>
          </c:tx>
          <c:spPr>
            <a:solidFill>
              <a:schemeClr val="accent2"/>
            </a:solidFill>
            <a:ln w="63500"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P@5</c:v>
                </c:pt>
                <c:pt idx="1">
                  <c:v>P@10</c:v>
                </c:pt>
                <c:pt idx="2">
                  <c:v>nDCG@10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</c:v>
                </c:pt>
                <c:pt idx="1">
                  <c:v>0.87</c:v>
                </c:pt>
                <c:pt idx="2">
                  <c:v>0.79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86-41F6-8A85-7879D9C60F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.0"/>
          <c:min val="0.0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0.2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0340673321854045E-2"/>
          <c:y val="0.93820074285734689"/>
          <c:w val="0.94740055839426573"/>
          <c:h val="6.17992571426531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02.10.2026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02.10.2026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02.10.2026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02.10.2026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80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07.png"/><Relationship Id="rId5" Type="http://schemas.openxmlformats.org/officeDocument/2006/relationships/image" Target="../media/image808.png"/><Relationship Id="rId6" Type="http://schemas.openxmlformats.org/officeDocument/2006/relationships/image" Target="../media/image809.jpg"/><Relationship Id="rId7" Type="http://schemas.openxmlformats.org/officeDocument/2006/relationships/image" Target="../media/image8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8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812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t>Команда «МГТУ ГА»</a:t>
            </a:r>
            <a:endParaRPr lang="ru-RU" sz="4800" dirty="0"/>
          </a:p>
          <a:p>
            <a:pPr marL="268288" indent="0"/>
            <a:r>
              <a:t>ЛЦТ-2026, спецтрек ФСП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/>
            <a:r>
              <a:rPr lang="ru-RU" dirty="0"/>
              <a:t>Цифровая платформа-агрегатор ИТ-вакансий </a:t>
            </a:r>
            <a:br>
              <a:rPr lang="ru-RU" dirty="0"/>
            </a:br>
            <a:r>
              <a:rPr lang="ru-RU" dirty="0"/>
              <a:t>с верифицированным профилем достижений </a:t>
            </a:r>
            <a:br>
              <a:rPr lang="ru-RU" dirty="0"/>
            </a:br>
            <a:r>
              <a:rPr lang="ru-RU" dirty="0"/>
              <a:t>участника Федерации спортивного программирования (ФСП)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Грейд подтверждает тест, а не резюме: у каждого кандидата свои варианты заданий, сложность откалибрована по модели Раша, поэтому слитые ответы бесполезны. Кандидат без истории ФСП не проигрывает — решают тест и навыки.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b="0" dirty="0">
                <a:solidFill>
                  <a:schemeClr val="tx1"/>
                </a:solidFill>
              </a:rPr>
              <a:t>Евгений Витковский, старший преподаватель МГТУ ГА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b="0" dirty="0">
                <a:solidFill>
                  <a:schemeClr val="tx1"/>
                </a:solidFill>
              </a:rPr>
              <a:t>4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r>
              <a:rPr lang="ru-RU" b="0" dirty="0">
                <a:solidFill>
                  <a:schemeClr val="tx1"/>
                </a:solidFill>
              </a:rPr>
              <a:t>студенты направления «Беспилотные авиационные системы» и их преподаватель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0" dirty="0">
                <a:solidFill>
                  <a:schemeClr val="tx1"/>
                </a:solidFill>
              </a:rPr>
              <a:t>три студента группы БАС241 и старший преподаватель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0" dirty="0">
                <a:solidFill>
                  <a:schemeClr val="tx1"/>
                </a:solidFill>
              </a:rPr>
              <a:t>МГТУ ГА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b="0" dirty="0">
                <a:solidFill>
                  <a:schemeClr val="tx1"/>
                </a:solidFill>
              </a:rPr>
              <a:t>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Работодатель сам находит специалиста: описывает потребность, видит подходящие категории «специализация + грейд» и ранжированную подборку с объяснением каждого места, приглашает с зарплатой от–до. Контакты открываются, когда кандидат принял приглашение.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  <p:pic>
        <p:nvPicPr>
          <p:cNvPr id="19" name="Picture 18" descr="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54" y="335267"/>
            <a:ext cx="4754854" cy="297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Данные, валидация, документация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@IFELY363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+7 962 631-74-67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МГТУ ГА, гр. БАС241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Антон Ямкин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Бэкенд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@Aurhim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+7 929 035-59-77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МГТУ ГА, гр. БАС241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Иван Минаев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Тестирование, разметка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@telpanis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+7 912 168-29-95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МГТУ ГА, гр. БАС241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Анастасия Желудева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" name="Рисунок 1" descr="vitkovsky.png"/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t="4925" b="4925"/>
          <a:stretch>
            <a:fillRect/>
          </a:stretch>
        </p:blipFill>
        <p:spPr>
          <a:xfrm>
            <a:off x="581397" y="1816054"/>
            <a:ext cx="1722566" cy="1552901"/>
          </a:xfrm>
        </p:spPr>
      </p:pic>
      <p:pic>
        <p:nvPicPr>
          <p:cNvPr id="3" name="Рисунок 2" descr="yamkin.png"/>
          <p:cNvPicPr>
            <a:picLocks noGrp="1" noChangeAspect="1"/>
          </p:cNvPicPr>
          <p:nvPr>
            <p:ph type="pic" sz="quarter" idx="4294967295"/>
          </p:nvPr>
        </p:nvPicPr>
        <p:blipFill>
          <a:blip r:embed="rId5"/>
          <a:srcRect t="17283" b="16063" l="-15321" r="-16867"/>
          <a:stretch>
            <a:fillRect/>
          </a:stretch>
        </p:blipFill>
        <p:spPr>
          <a:xfrm>
            <a:off x="2886467" y="1826554"/>
            <a:ext cx="1722566" cy="1542401"/>
          </a:xfrm>
        </p:spPr>
      </p:pic>
      <p:pic>
        <p:nvPicPr>
          <p:cNvPr id="4" name="Рисунок 3" descr="minaev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6"/>
          <a:srcRect t="2736" b="41997" l="11982" r="11990"/>
          <a:stretch>
            <a:fillRect/>
          </a:stretch>
        </p:blipFill>
        <p:spPr>
          <a:xfrm>
            <a:off x="5191784" y="1809238"/>
            <a:ext cx="1722567" cy="1559717"/>
          </a:xfrm>
        </p:spPr>
      </p:pic>
      <p:pic>
        <p:nvPicPr>
          <p:cNvPr id="5" name="Рисунок 4" descr="zheludeva.png"/>
          <p:cNvPicPr>
            <a:picLocks noGrp="1" noChangeAspect="1"/>
          </p:cNvPicPr>
          <p:nvPr>
            <p:ph type="pic" sz="quarter" idx="4294967295"/>
          </p:nvPr>
        </p:nvPicPr>
        <p:blipFill>
          <a:blip r:embed="rId7"/>
          <a:srcRect b="13149" l="-13939" r="-13939"/>
          <a:stretch>
            <a:fillRect/>
          </a:stretch>
        </p:blipFill>
        <p:spPr>
          <a:xfrm>
            <a:off x="7520208" y="1809238"/>
            <a:ext cx="1722567" cy="1559717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t>КОМАНДА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Капитан, фронтенд, сервер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@Sieg_Ykrop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+7 985 490-67-29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МГТУ ГА, ст. преподаватель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Евгений Витковский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t>О КОМАНДЕ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Студенты группы БАС241 МГТУ ГА и наш старший преподаватель. До спецтрека вместе прошли основной трек ЛЦТ-2026 — задачу «Геоскана» по планированию полётов БВС.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Сутки и четыре человека, у каждого свой ИИ-агент. Заранее зафиксировали общий контракт (API, форматы данных, функции ядра) и работали параллельно. Подбор проверяли на скрытой правде и второй независимой разметке, чтобы не проверять формулу самой собой.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Сложности и как справились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Мы сами студенты: опыта в резюме мало, а навыки есть. Хотим, чтобы работодатель видел подтверждённый уровень и находил таких, как мы, сам.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задача ФСП?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Категория = специализация + грейд; грейд подтверждает только экспресс-тест: 10 заданий, 5 минут</a:t>
            </a:r>
          </a:p>
          <a:p>
            <a:r>
              <a:rPr lang="ru-RU" sz="1400" dirty="0">
                <a:solidFill>
                  <a:schemeClr val="tx1"/>
                </a:solidFill>
              </a:rPr>
              <a:t>Параметрические шаблоны с персональным сидом, сложность по модели Раша, адаптивный подбор заданий</a:t>
            </a:r>
          </a:p>
          <a:p>
            <a:r>
              <a:rPr lang="ru-RU" sz="1400" dirty="0">
                <a:solidFill>
                  <a:schemeClr val="tx1"/>
                </a:solidFill>
              </a:rPr>
              <a:t>Подбор: навыки 40 %, тест 30 %, результаты ФСП 15 %, свежесть 10 %, пожелания 5 %; у каждого места — объяснение</a:t>
            </a:r>
          </a:p>
          <a:p>
            <a:r>
              <a:rPr lang="ru-RU" sz="1400" dirty="0">
                <a:solidFill>
                  <a:schemeClr val="tx1"/>
                </a:solidFill>
              </a:rPr>
              <a:t>FSP ID: имитация входа через Keycloak (OIDC), результаты ФСП импортируются как подтверждённые</a:t>
            </a:r>
          </a:p>
          <a:p>
            <a:r>
              <a:rPr lang="ru-RU" sz="1400" dirty="0">
                <a:solidFill>
                  <a:schemeClr val="tx1"/>
                </a:solidFill>
              </a:rPr>
              <a:t>Python · FastAPI · PostgreSQL · React · Docker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rgbClr val="1C1D22"/>
                </a:solidFill>
              </a:rPr>
              <a:t>Работодатель сам выходит на кандидата и приглашает с зарплатой от–до</a:t>
            </a:r>
          </a:p>
          <a:p>
            <a:r>
              <a:rPr lang="ru-RU" sz="1400" dirty="0">
                <a:solidFill>
                  <a:srgbClr val="1C1D22"/>
                </a:solidFill>
              </a:rPr>
              <a:t>Кандидат без истории ФСП не проигрывает: решают тест и навыки</a:t>
            </a:r>
          </a:p>
          <a:p>
            <a:r>
              <a:rPr lang="ru-RU" sz="1400" dirty="0">
                <a:solidFill>
                  <a:srgbClr val="1C1D22"/>
                </a:solidFill>
              </a:rPr>
              <a:t>Контакты скрыты до согласия кандидата</a:t>
            </a:r>
          </a:p>
          <a:p>
            <a:r>
              <a:rPr lang="ru-RU" sz="1400" dirty="0">
                <a:solidFill>
                  <a:srgbClr val="1C1D22"/>
                </a:solidFill>
              </a:rPr>
              <a:t>Развитие: регулярные задания работодателей, защита от фиктивных вакансий, интеграция с ATS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263123"/>
            <a:ext cx="5574868" cy="4937652"/>
          </a:xfrm>
        </p:spPr>
        <p:txBody>
          <a:bodyPr/>
          <a:lstStyle/>
          <a:p>
            <a:pPr indent="0" marL="0">
              <a:buNone/>
            </a:pPr>
            <a:r>
              <a:rPr b="1" sz="1400">
                <a:solidFill>
                  <a:srgbClr val="1C1D22"/>
                </a:solidFill>
              </a:rPr>
              <a:t>Репозиторий (код, документация):</a:t>
            </a:r>
            <a:endParaRPr lang="ru-RU" dirty="0">
              <a:solidFill>
                <a:schemeClr val="tx1"/>
              </a:solidFill>
            </a:endParaRPr>
          </a:p>
          <a:p>
            <a:pPr indent="0" marL="0">
              <a:buNone/>
            </a:pPr>
            <a:r>
              <a:rPr b="0" sz="1400">
                <a:solidFill>
                  <a:srgbClr val="1C1D22"/>
                </a:solidFill>
              </a:rPr>
              <a:t>github.com/Wit-Sky/fsp-lct2026</a:t>
            </a:r>
            <a:endParaRPr lang="ru-RU" dirty="0">
              <a:solidFill>
                <a:schemeClr val="tx1"/>
              </a:solidFill>
            </a:endParaRPr>
          </a:p>
          <a:p>
            <a:pPr indent="0" marL="0">
              <a:buNone/>
            </a:pPr>
            <a:r>
              <a:rPr b="1" sz="1400">
                <a:solidFill>
                  <a:srgbClr val="1C1D22"/>
                </a:solidFill>
              </a:rPr>
              <a:t>Живая демонстрация:</a:t>
            </a:r>
            <a:endParaRPr lang="ru-RU" dirty="0">
              <a:solidFill>
                <a:schemeClr val="tx1"/>
              </a:solidFill>
            </a:endParaRPr>
          </a:p>
          <a:p>
            <a:pPr indent="0" marL="0">
              <a:buNone/>
            </a:pPr>
            <a:r>
              <a:rPr b="0" sz="1400">
                <a:solidFill>
                  <a:srgbClr val="1C1D22"/>
                </a:solidFill>
              </a:rPr>
              <a:t>https://81-26-180-5.sslip.io</a:t>
            </a:r>
            <a:endParaRPr lang="ru-RU" dirty="0">
              <a:solidFill>
                <a:schemeClr val="tx1"/>
              </a:solidFill>
            </a:endParaRPr>
          </a:p>
          <a:p>
            <a:pPr indent="0" marL="0">
              <a:buNone/>
            </a:pPr>
            <a:r>
              <a:rPr b="1" sz="1400">
                <a:solidFill>
                  <a:srgbClr val="1C1D22"/>
                </a:solidFill>
              </a:rPr>
              <a:t>Запуск:</a:t>
            </a:r>
            <a:endParaRPr lang="ru-RU" dirty="0">
              <a:solidFill>
                <a:schemeClr val="tx1"/>
              </a:solidFill>
            </a:endParaRPr>
          </a:p>
          <a:p>
            <a:pPr indent="0" marL="0">
              <a:buNone/>
            </a:pPr>
            <a:r>
              <a:rPr b="0" sz="1400">
                <a:solidFill>
                  <a:srgbClr val="1C1D22"/>
                </a:solidFill>
              </a:rPr>
              <a:t>docker compose up --build</a:t>
            </a:r>
            <a:endParaRPr lang="ru-RU" dirty="0">
              <a:solidFill>
                <a:schemeClr val="tx1"/>
              </a:solidFill>
            </a:endParaRPr>
          </a:p>
          <a:p>
            <a:pPr indent="0" marL="0">
              <a:buNone/>
            </a:pPr>
            <a:r>
              <a:rPr b="1" sz="1400">
                <a:solidFill>
                  <a:srgbClr val="1C1D22"/>
                </a:solidFill>
              </a:rPr>
              <a:t>Документация:</a:t>
            </a:r>
            <a:endParaRPr lang="ru-RU" dirty="0">
              <a:solidFill>
                <a:schemeClr val="tx1"/>
              </a:solidFill>
            </a:endParaRPr>
          </a:p>
          <a:p>
            <a:pPr indent="0" marL="0">
              <a:buNone/>
            </a:pPr>
            <a:r>
              <a:rPr b="0" sz="1400">
                <a:solidFill>
                  <a:srgbClr val="1C1D22"/>
                </a:solidFill>
              </a:rPr>
              <a:t>docs/ — архитектура, тестирование, подбор, валидация, API, FSP ID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r>
              <a:rPr b="1">
                <a:solidFill>
                  <a:srgbClr val="520978"/>
                </a:solidFill>
              </a:rPr>
              <a:t>СПАСИБО!</a:t>
            </a:r>
            <a:endParaRPr lang="ru-RU" sz="2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r>
              <a:t>СЛИВ ОТВЕТОВ НЕ ПОМОГАЕТ</a:t>
            </a:r>
            <a:endParaRPr lang="ru-RU" sz="3600" dirty="0">
              <a:solidFill>
                <a:schemeClr val="bg1"/>
              </a:solidFill>
            </a:endParaRPr>
          </a:p>
        </p:txBody>
      </p:sp>
      <p:pic>
        <p:nvPicPr>
          <p:cNvPr id="22" name="Picture 21" descr="a4_le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707" y="1556279"/>
            <a:ext cx="5149981" cy="374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r>
              <a:rPr b="1">
                <a:solidFill>
                  <a:srgbClr val="520978"/>
                </a:solidFill>
              </a:rPr>
              <a:t>ОГРАНИЧЕНИЯ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10922000" cy="712587"/>
          </a:xfrm>
        </p:spPr>
        <p:txBody>
          <a:bodyPr anchor="ctr"/>
          <a:lstStyle/>
          <a:p>
            <a:pPr indent="0" marL="0">
              <a:buNone/>
            </a:pPr>
            <a:r>
              <a:rPr sz="1500">
                <a:solidFill>
                  <a:srgbClr val="1C1D22"/>
                </a:solidFill>
              </a:rPr>
              <a:t>FSP ID и подтверждение email на демо — имитация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10922000" cy="712587"/>
          </a:xfrm>
        </p:spPr>
        <p:txBody>
          <a:bodyPr anchor="ctr"/>
          <a:lstStyle/>
          <a:p>
            <a:pPr indent="0" marL="0">
              <a:buNone/>
            </a:pPr>
            <a:r>
              <a:rPr sz="1500">
                <a:solidFill>
                  <a:srgbClr val="1C1D22"/>
                </a:solidFill>
              </a:rPr>
              <a:t>Сложность шаблонов откалибрована на симуляции; нужна калибровка на живых ответах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10922000" cy="712587"/>
          </a:xfrm>
        </p:spPr>
        <p:txBody>
          <a:bodyPr anchor="ctr"/>
          <a:lstStyle/>
          <a:p>
            <a:pPr indent="0" marL="0">
              <a:buNone/>
            </a:pPr>
            <a:r>
              <a:rPr sz="1500">
                <a:solidFill>
                  <a:srgbClr val="1C1D22"/>
                </a:solidFill>
              </a:rPr>
              <a:t>Валидация — на синтетических кандидатах со скрытой правдой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10922000" cy="712587"/>
          </a:xfrm>
        </p:spPr>
        <p:txBody>
          <a:bodyPr anchor="ctr"/>
          <a:lstStyle/>
          <a:p>
            <a:pPr indent="0" marL="0">
              <a:buNone/>
            </a:pPr>
            <a:r>
              <a:rPr sz="1500">
                <a:solidFill>
                  <a:srgbClr val="1C1D22"/>
                </a:solidFill>
              </a:rPr>
              <a:t>Короткий тест: точный грейд в 64 % случаев, ошибка больше ступени — 1,7 %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10922000" cy="712587"/>
          </a:xfrm>
        </p:spPr>
        <p:txBody>
          <a:bodyPr anchor="ctr"/>
          <a:lstStyle/>
          <a:p>
            <a:pPr indent="0" marL="0">
              <a:buNone/>
            </a:pPr>
            <a:r>
              <a:rPr sz="1500">
                <a:solidFill>
                  <a:srgbClr val="1C1D22"/>
                </a:solidFill>
              </a:rPr>
              <a:t>Свободный ответ — только в регулярных заданиях работодателя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15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40513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520978"/>
                </a:solidFill>
              </a:rPr>
              <a:t>Тест нельзя слить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pPr indent="0" marL="0">
              <a:buNone/>
            </a:pPr>
            <a:r>
              <a:rPr sz="1700">
                <a:solidFill>
                  <a:srgbClr val="1C1D22"/>
                </a:solidFill>
              </a:rPr>
              <a:t>у каждого кандидата свои варианты; проверено симуляцией слива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520978"/>
                </a:solidFill>
              </a:rPr>
              <a:t>Объяснимый подбор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pPr indent="0" marL="0">
              <a:buNone/>
            </a:pPr>
            <a:r>
              <a:rPr sz="1700">
                <a:solidFill>
                  <a:srgbClr val="1C1D22"/>
                </a:solidFill>
              </a:rPr>
              <a:t>у каждого места в подборке — факторы и их вклад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520978"/>
                </a:solidFill>
              </a:rPr>
              <a:t>Без ФСП — не хуже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pPr indent="0" marL="0">
              <a:buNone/>
            </a:pPr>
            <a:r>
              <a:rPr sz="1700">
                <a:solidFill>
                  <a:srgbClr val="1C1D22"/>
                </a:solidFill>
              </a:rPr>
              <a:t>результаты ФСП только добавляют, но не заменяют тест и навыки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520978"/>
                </a:solidFill>
              </a:rPr>
              <a:t>Честная проверка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pPr indent="0" marL="0">
              <a:buNone/>
            </a:pPr>
            <a:r>
              <a:rPr sz="1700">
                <a:solidFill>
                  <a:srgbClr val="1C1D22"/>
                </a:solidFill>
              </a:rPr>
              <a:t>разметка по скрытой правде и вторая независимая разметка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В ЧЁМ УНИКАЛЬНОСТЬ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FF0053"/>
                </a:solidFill>
              </a:rPr>
              <a:t>01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FF0053"/>
                </a:solidFill>
              </a:rPr>
              <a:t>02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FF0053"/>
                </a:solidFill>
              </a:rPr>
              <a:t>03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FF0053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520978"/>
                </a:solidFill>
              </a:rPr>
              <a:t>Вход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pPr indent="0" marL="0">
              <a:buNone/>
            </a:pPr>
            <a:r>
              <a:rPr sz="1700">
                <a:solidFill>
                  <a:srgbClr val="1C1D22"/>
                </a:solidFill>
              </a:rPr>
              <a:t>authorization code через Keycloak ФСП; на демо — имитация с тем же обменом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520978"/>
                </a:solidFill>
              </a:rPr>
              <a:t>Учётная запись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pPr indent="0" marL="0">
              <a:buNone/>
            </a:pPr>
            <a:r>
              <a:rPr sz="1700">
                <a:solidFill>
                  <a:srgbClr val="1C1D22"/>
                </a:solidFill>
              </a:rPr>
              <a:t>внешняя учётная запись provider = fsp привязывается к профилю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520978"/>
                </a:solidFill>
              </a:rPr>
              <a:t>Результаты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pPr indent="0" marL="0">
              <a:buNone/>
            </a:pPr>
            <a:r>
              <a:rPr sz="1700">
                <a:solidFill>
                  <a:srgbClr val="1C1D22"/>
                </a:solidFill>
              </a:rPr>
              <a:t>импорт подтверждённых результатов с полем source; нет истории — путь не блокируется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 b="1">
                <a:solidFill>
                  <a:srgbClr val="520978"/>
                </a:solidFill>
              </a:rPr>
              <a:t>ИНТЕГРАЦИЯ С FSP ID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FF0053"/>
                </a:solidFill>
              </a:rPr>
              <a:t>OIDC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FF0053"/>
                </a:solidFill>
              </a:rPr>
              <a:t>ID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FF0053"/>
                </a:solidFill>
              </a:rPr>
              <a:t>ФСП</a:t>
            </a:r>
            <a:endParaRPr lang="ru-RU" sz="4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18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15961" y="1428777"/>
            <a:ext cx="3866856" cy="423628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520978"/>
                </a:solidFill>
              </a:rPr>
              <a:t>Антифейк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15964" y="1996388"/>
            <a:ext cx="3866856" cy="672075"/>
          </a:xfrm>
        </p:spPr>
        <p:txBody>
          <a:bodyPr/>
          <a:lstStyle/>
          <a:p>
            <a:pPr indent="0" marL="0">
              <a:buNone/>
            </a:pPr>
            <a:r>
              <a:rPr sz="1700">
                <a:solidFill>
                  <a:srgbClr val="1C1D22"/>
                </a:solidFill>
              </a:rPr>
              <a:t>рейтинг ответов работодателя, доля приглашений без найма, метка ИНН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596605" y="3032761"/>
            <a:ext cx="3866856" cy="403756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520978"/>
                </a:solidFill>
              </a:rPr>
              <a:t>ATS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596605" y="3580500"/>
            <a:ext cx="3866856" cy="672075"/>
          </a:xfrm>
        </p:spPr>
        <p:txBody>
          <a:bodyPr/>
          <a:lstStyle/>
          <a:p>
            <a:pPr indent="0" marL="0">
              <a:buNone/>
            </a:pPr>
            <a:r>
              <a:rPr sz="1700">
                <a:solidFill>
                  <a:srgbClr val="1C1D22"/>
                </a:solidFill>
              </a:rPr>
              <a:t>вебхуки статусов и экспорт кандидата в JSON / HR-XML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96605" y="4616873"/>
            <a:ext cx="3866856" cy="403913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520978"/>
                </a:solidFill>
              </a:rPr>
              <a:t>Задания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96605" y="5164612"/>
            <a:ext cx="3866856" cy="672075"/>
          </a:xfrm>
        </p:spPr>
        <p:txBody>
          <a:bodyPr/>
          <a:lstStyle/>
          <a:p>
            <a:pPr indent="0" marL="0">
              <a:buNone/>
            </a:pPr>
            <a:r>
              <a:rPr sz="1700">
                <a:solidFill>
                  <a:srgbClr val="1C1D22"/>
                </a:solidFill>
              </a:rPr>
              <a:t>регулярные задания от работодателей со свободным ответом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89068" y="1428777"/>
            <a:ext cx="3866856" cy="423628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520978"/>
                </a:solidFill>
              </a:rPr>
              <a:t>Калибровка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289071" y="1996388"/>
            <a:ext cx="3866856" cy="672075"/>
          </a:xfrm>
        </p:spPr>
        <p:txBody>
          <a:bodyPr/>
          <a:lstStyle/>
          <a:p>
            <a:pPr indent="0" marL="0">
              <a:buNone/>
            </a:pPr>
            <a:r>
              <a:rPr sz="1700">
                <a:solidFill>
                  <a:srgbClr val="1C1D22"/>
                </a:solidFill>
              </a:rPr>
              <a:t>сложность шаблонов по живым ответам, метка «скомпрометирован»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269712" y="3032761"/>
            <a:ext cx="3866856" cy="403756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520978"/>
                </a:solidFill>
              </a:rPr>
              <a:t>Источники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269712" y="3580500"/>
            <a:ext cx="3866856" cy="672075"/>
          </a:xfrm>
        </p:spPr>
        <p:txBody>
          <a:bodyPr/>
          <a:lstStyle/>
          <a:p>
            <a:pPr indent="0" marL="0">
              <a:buNone/>
            </a:pPr>
            <a:r>
              <a:rPr sz="1700">
                <a:solidFill>
                  <a:srgbClr val="1C1D22"/>
                </a:solidFill>
              </a:rPr>
              <a:t>олимпиады и хакатоны как ещё один источник подтверждённых результатов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269712" y="4616873"/>
            <a:ext cx="3866856" cy="403913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520978"/>
                </a:solidFill>
              </a:rPr>
              <a:t>16–17 лет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269712" y="5164612"/>
            <a:ext cx="3866856" cy="672075"/>
          </a:xfrm>
        </p:spPr>
        <p:txBody>
          <a:bodyPr/>
          <a:lstStyle/>
          <a:p>
            <a:pPr indent="0" marL="0">
              <a:buNone/>
            </a:pPr>
            <a:r>
              <a:rPr sz="1700">
                <a:solidFill>
                  <a:srgbClr val="1C1D22"/>
                </a:solidFill>
              </a:rPr>
              <a:t>согласие родителя, 152-ФЗ, стажировки для студентов колледжей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ПЛАН РАЗВИТИЯ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394052"/>
            <a:ext cx="771003" cy="423628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FF0053"/>
                </a:solidFill>
              </a:rPr>
              <a:t>01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1557" y="2998036"/>
            <a:ext cx="771003" cy="403756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FF0053"/>
                </a:solidFill>
              </a:rPr>
              <a:t>02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01557" y="4582148"/>
            <a:ext cx="771003" cy="403913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FF0053"/>
                </a:solidFill>
              </a:rPr>
              <a:t>03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194020" y="1394052"/>
            <a:ext cx="771003" cy="423628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FF0053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174664" y="2998036"/>
            <a:ext cx="771003" cy="403756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FF0053"/>
                </a:solidFill>
              </a:rPr>
              <a:t>05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174664" y="4582148"/>
            <a:ext cx="771003" cy="403913"/>
          </a:xfrm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FF0053"/>
                </a:solidFill>
              </a:rPr>
              <a:t>06</a:t>
            </a:r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85445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1C1D22"/>
                </a:solidFill>
              </a:rPr>
              <a:t>Грейд подтверждает только тест по категории; уровень кандидат выбирает сам.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1C1D22"/>
                </a:solidFill>
              </a:rPr>
              <a:t>Результаты ФСП ранжируют только внутри категории: все дисциплины равны, ×1,5 за близость к специализации.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1C1D22"/>
                </a:solidFill>
              </a:rPr>
              <a:t>Путь без истории ФСП — обязательный и полноценный.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1C1D22"/>
                </a:solidFill>
              </a:rPr>
              <a:t>Регистрация по email с кодом; FSP ID на демо — имитация Keycloak.</a:t>
            </a:r>
            <a:endParaRPr lang="ru-RU" sz="3600" b="1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indent="0" marL="0">
              <a:buNone/>
            </a:pPr>
            <a:r>
              <a:rPr sz="1400">
                <a:solidFill>
                  <a:srgbClr val="1C1D22"/>
                </a:solidFill>
              </a:rPr>
              <a:t>Зарплата в вакансии и приглашении: от–до, гросс или нетто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indent="0" marL="0">
              <a:buNone/>
            </a:pPr>
            <a:r>
              <a:rPr sz="1400">
                <a:solidFill>
                  <a:srgbClr val="1C1D22"/>
                </a:solidFill>
              </a:rPr>
              <a:t>Контакты скрыты до принятия приглашения или отклика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indent="0" marL="0">
              <a:buNone/>
            </a:pPr>
            <a:r>
              <a:rPr sz="1400">
                <a:solidFill>
                  <a:srgbClr val="1C1D22"/>
                </a:solidFill>
              </a:rPr>
              <a:t>Повтор того же грейда — через 30 дней, ниже — сразу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indent="0" marL="0">
              <a:buNone/>
            </a:pPr>
            <a:r>
              <a:rPr sz="1400">
                <a:solidFill>
                  <a:srgbClr val="1C1D22"/>
                </a:solidFill>
              </a:rPr>
              <a:t>Не подтвердил — статус «не подтверждён», не прячем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indent="0" marL="0">
              <a:buNone/>
            </a:pPr>
            <a:r>
              <a:rPr sz="1400">
                <a:solidFill>
                  <a:srgbClr val="1C1D22"/>
                </a:solidFill>
              </a:rPr>
              <a:t>Младше 18 лет — согласие родителя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ПРАВИЛА ЭКСПЕРТОВ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FF0053"/>
                </a:solidFill>
              </a:rPr>
              <a:t>56 % — тот же грейд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91637" y="1649793"/>
            <a:ext cx="4790314" cy="779602"/>
          </a:xfrm>
        </p:spPr>
        <p:txBody>
          <a:bodyPr/>
          <a:lstStyle/>
          <a:p>
            <a:pPr indent="0" marL="0">
              <a:buNone/>
            </a:pPr>
            <a:r>
              <a:rPr>
                <a:solidFill>
                  <a:srgbClr val="1C1D22"/>
                </a:solidFill>
              </a:rPr>
              <a:t>при повторном тесте на других вариантах заданий; r(θ₁, θ₂) = 0,71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FF0053"/>
                </a:solidFill>
              </a:rPr>
              <a:t>+0,09 к θ от слива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637" y="3515862"/>
            <a:ext cx="4790314" cy="869021"/>
          </a:xfrm>
        </p:spPr>
        <p:txBody>
          <a:bodyPr/>
          <a:lstStyle/>
          <a:p>
            <a:pPr indent="0" marL="0">
              <a:buNone/>
            </a:pPr>
            <a:r>
              <a:rPr>
                <a:solidFill>
                  <a:srgbClr val="1C1D22"/>
                </a:solidFill>
              </a:rPr>
              <a:t>ответы 50 других кандидатов почти не помогают; при едином тесте для всех +2,82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FF0053"/>
                </a:solidFill>
              </a:rPr>
              <a:t>κ = 0,64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1637" y="5471798"/>
            <a:ext cx="4790314" cy="848014"/>
          </a:xfrm>
        </p:spPr>
        <p:txBody>
          <a:bodyPr/>
          <a:lstStyle/>
          <a:p>
            <a:pPr indent="0" marL="0">
              <a:buNone/>
            </a:pPr>
            <a:r>
              <a:rPr>
                <a:solidFill>
                  <a:srgbClr val="1C1D22"/>
                </a:solidFill>
              </a:rPr>
              <a:t>согласие двух независимых разметок пар «потребность — кандидат»</a:t>
            </a:r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58358F-6A3F-4E56-8E2C-0059A594A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485138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30828" cy="376138"/>
          </a:xfrm>
        </p:spPr>
        <p:txBody>
          <a:bodyPr/>
          <a:lstStyle/>
          <a:p>
            <a:r>
              <a:t>ВАЛИДАЦИЯ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464185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indent="0" marL="0">
              <a:spcAft>
                <a:spcPts val="800"/>
              </a:spcAft>
              <a:buNone/>
            </a:pPr>
            <a:r>
              <a:rPr b="1" sz="1900">
                <a:solidFill>
                  <a:srgbClr val="1C1D22"/>
                </a:solidFill>
              </a:rPr>
              <a:t>Свои варианты</a:t>
            </a:r>
            <a:endParaRPr lang="ru-RU" dirty="0">
              <a:solidFill>
                <a:schemeClr val="tx1"/>
              </a:solidFill>
            </a:endParaRPr>
          </a:p>
          <a:p>
            <a:pPr indent="0" marL="0">
              <a:spcAft>
                <a:spcPts val="800"/>
              </a:spcAft>
              <a:buNone/>
            </a:pPr>
            <a:r>
              <a:rPr sz="1700">
                <a:solidFill>
                  <a:srgbClr val="1C1D22"/>
                </a:solidFill>
              </a:rPr>
              <a:t>Шаблон задания генерирует числа, код и порядок ответов из сида кандидата; правильный ответ считает код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indent="0" marL="0">
              <a:spcAft>
                <a:spcPts val="800"/>
              </a:spcAft>
              <a:buNone/>
            </a:pPr>
            <a:r>
              <a:rPr b="1" sz="1900">
                <a:solidFill>
                  <a:srgbClr val="1C1D22"/>
                </a:solidFill>
              </a:rPr>
              <a:t>Модель Раша</a:t>
            </a:r>
            <a:endParaRPr lang="ru-RU" dirty="0">
              <a:solidFill>
                <a:schemeClr val="tx1"/>
              </a:solidFill>
            </a:endParaRPr>
          </a:p>
          <a:p>
            <a:pPr indent="0" marL="0">
              <a:spcAft>
                <a:spcPts val="800"/>
              </a:spcAft>
              <a:buNone/>
            </a:pPr>
            <a:r>
              <a:rPr sz="1700">
                <a:solidFill>
                  <a:srgbClr val="1C1D22"/>
                </a:solidFill>
              </a:rPr>
              <a:t>У шаблона известна сложность b; первые задания — у заявленного грейда, дальше сложнее или проще по ответам; θ — по максимуму правдоподобия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indent="0" marL="0">
              <a:spcAft>
                <a:spcPts val="800"/>
              </a:spcAft>
              <a:buNone/>
            </a:pPr>
            <a:r>
              <a:rPr b="1" sz="1900">
                <a:solidFill>
                  <a:srgbClr val="1C1D22"/>
                </a:solidFill>
              </a:rPr>
              <a:t>Честные правила</a:t>
            </a:r>
            <a:endParaRPr lang="ru-RU">
              <a:solidFill>
                <a:schemeClr val="tx1"/>
              </a:solidFill>
            </a:endParaRPr>
          </a:p>
          <a:p>
            <a:pPr indent="0" marL="0">
              <a:spcAft>
                <a:spcPts val="800"/>
              </a:spcAft>
              <a:buNone/>
            </a:pPr>
            <a:r>
              <a:rPr sz="1700">
                <a:solidFill>
                  <a:srgbClr val="1C1D22"/>
                </a:solidFill>
              </a:rPr>
              <a:t>Грейд выбирает кандидат; не подтвердил — виден ниже, но не скрыт; повтор через 30 дней, на уровень ниже — сразу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МЕХАНИКА ТЕСТИРОВАНИЯ</a:t>
            </a:r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56261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FF0053"/>
                </a:solidFill>
              </a:rPr>
              <a:t>Потребность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pPr indent="0" marL="0">
              <a:buNone/>
            </a:pPr>
            <a:r>
              <a:rPr sz="1300">
                <a:solidFill>
                  <a:srgbClr val="1C1D22"/>
                </a:solidFill>
              </a:rPr>
              <a:t>специализация, грейд, навыки с весами, зарплата от–до, гросс или нетто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FF0053"/>
                </a:solidFill>
              </a:rPr>
              <a:t>Подборка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pPr indent="0" marL="0">
              <a:buNone/>
            </a:pPr>
            <a:r>
              <a:rPr sz="1300">
                <a:solidFill>
                  <a:srgbClr val="1C1D22"/>
                </a:solidFill>
              </a:rPr>
              <a:t>ранжирование и «почему он здесь»; фильтры не сбрасывают запрос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FF0053"/>
                </a:solidFill>
              </a:rPr>
              <a:t>Контакт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pPr indent="0" marL="0">
              <a:buNone/>
            </a:pPr>
            <a:r>
              <a:rPr sz="1300">
                <a:solidFill>
                  <a:srgbClr val="1C1D22"/>
                </a:solidFill>
              </a:rPr>
              <a:t>кандидат принял приглашение — контакты открылись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FF0053"/>
                </a:solidFill>
              </a:rPr>
              <a:t>Категории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pPr indent="0" marL="0">
              <a:buNone/>
            </a:pPr>
            <a:r>
              <a:rPr sz="1300">
                <a:solidFill>
                  <a:srgbClr val="1C1D22"/>
                </a:solidFill>
              </a:rPr>
              <a:t>сколько подтверждённых кандидатов в каждой категории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indent="0" marL="0">
              <a:buNone/>
            </a:pPr>
            <a:r>
              <a:rPr b="1">
                <a:solidFill>
                  <a:srgbClr val="FF0053"/>
                </a:solidFill>
              </a:rPr>
              <a:t>Приглашение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pPr indent="0" marL="0">
              <a:buNone/>
            </a:pPr>
            <a:r>
              <a:rPr sz="1300">
                <a:solidFill>
                  <a:srgbClr val="1C1D22"/>
                </a:solidFill>
              </a:rPr>
              <a:t>адресное: сообщение, зарплата, способ связи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ОТ ПОТРЕБНОСТИ ДО КОНТАКТА</a:t>
            </a:r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4C56CA4-DEF9-5625-89CB-6C07486C2532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D2A0318-C089-B05C-98D0-C8E15942D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2" y="904538"/>
            <a:ext cx="4551334" cy="3557364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2D5942-B353-44B0-BA5B-56640646D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26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247253-002A-413B-B1BF-2661F6820C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indent="0" marL="0">
              <a:buNone/>
            </a:pPr>
            <a:r>
              <a:rPr>
                <a:solidFill>
                  <a:srgbClr val="1C1D22"/>
                </a:solidFill>
              </a:rPr>
              <a:t>Демо-кандидат и демо-работодатель — вход одной кнопкой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1719752-EED6-4EE5-BE5A-FB401278B9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indent="0" marL="0">
              <a:buNone/>
            </a:pPr>
            <a:r>
              <a:rPr>
                <a:solidFill>
                  <a:srgbClr val="1C1D22"/>
                </a:solidFill>
              </a:rPr>
              <a:t>Экспресс-тест 3–5 минут, подборка с объяснением, приглашение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16E677-DB7C-4B76-AAC0-44E0CBDD2C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indent="0" marL="0">
              <a:buNone/>
            </a:pPr>
            <a:r>
              <a:rPr>
                <a:solidFill>
                  <a:srgbClr val="1C1D22"/>
                </a:solidFill>
              </a:rPr>
              <a:t>Живая демонстрация:</a:t>
            </a:r>
            <a:endParaRPr lang="ru-RU">
              <a:solidFill>
                <a:schemeClr val="tx1"/>
              </a:solidFill>
            </a:endParaRPr>
          </a:p>
          <a:p>
            <a:pPr indent="0" marL="0">
              <a:buNone/>
            </a:pPr>
            <a:r>
              <a:rPr>
                <a:solidFill>
                  <a:srgbClr val="1C1D22"/>
                </a:solidFill>
              </a:rPr>
              <a:t>https://81-26-180-5.sslip.io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F4D2037-46B3-D253-D9E2-75E4F6E77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ДЕМОНСТРАЦИЯ</a:t>
            </a:r>
            <a:endParaRPr lang="ru-RU" dirty="0"/>
          </a:p>
        </p:txBody>
      </p:sp>
      <p:pic>
        <p:nvPicPr>
          <p:cNvPr id="13" name="Picture 12" descr="ui_t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8417" y="1191702"/>
            <a:ext cx="3988905" cy="299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989456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11028</TotalTime>
  <Words>632</Words>
  <Application>Microsoft Macintosh PowerPoint</Application>
  <PresentationFormat>Широкоэкранный</PresentationFormat>
  <Paragraphs>187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Ирина</cp:lastModifiedBy>
  <cp:revision>97</cp:revision>
  <dcterms:created xsi:type="dcterms:W3CDTF">2023-05-15T07:36:23Z</dcterms:created>
  <dcterms:modified xsi:type="dcterms:W3CDTF">2026-10-02T08:27:06Z</dcterms:modified>
</cp:coreProperties>
</file>