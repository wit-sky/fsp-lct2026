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7" r:id="rId26"/>
    <p:sldId id="268" r:id="rId25"/>
    <p:sldId id="372" r:id="rId14"/>
    <p:sldId id="263" r:id="rId22"/>
    <p:sldId id="262" r:id="rId21"/>
    <p:sldId id="371" r:id="rId17"/>
    <p:sldId id="374" r:id="rId18"/>
    <p:sldId id="269" r:id="rId27"/>
    <p:sldId id="370" r:id="rId16"/>
    <p:sldId id="260" r:id="rId19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Наш подбор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P@5</c:v>
                </c:pt>
                <c:pt idx="1">
                  <c:v>P@10</c:v>
                </c:pt>
                <c:pt idx="2">
                  <c:v>nDCG@10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</c:v>
                </c:pt>
                <c:pt idx="1">
                  <c:v>0.87</c:v>
                </c:pt>
                <c:pt idx="2">
                  <c:v>0.77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 ключевым словам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P@5</c:v>
                </c:pt>
                <c:pt idx="1">
                  <c:v>P@10</c:v>
                </c:pt>
                <c:pt idx="2">
                  <c:v>nDCG@10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</c:v>
                </c:pt>
                <c:pt idx="1">
                  <c:v>0.87</c:v>
                </c:pt>
                <c:pt idx="2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0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07.png"/><Relationship Id="rId5" Type="http://schemas.openxmlformats.org/officeDocument/2006/relationships/image" Target="../media/image808.png"/><Relationship Id="rId6" Type="http://schemas.openxmlformats.org/officeDocument/2006/relationships/image" Target="../media/image809.jpg"/><Relationship Id="rId7" Type="http://schemas.openxmlformats.org/officeDocument/2006/relationships/image" Target="../media/image8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812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Команда «МГТУ ГА»</a:t>
            </a:r>
            <a:endParaRPr lang="ru-RU" sz="4800" dirty="0"/>
          </a:p>
          <a:p>
            <a:pPr marL="268288" indent="0"/>
            <a:r>
              <a:t>ЛЦТ-2026, спецтрек ФСП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Грейд подтверждает тест, а не резюме: у каждого кандидата свои варианты заданий, сложность откалибрована по модели Раша, поэтому слитые ответы бесполезны. Кандидат без истории ФСП не проигрывает — решают тест и навыки.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Евгений Витковский, старший преподаватель МГТУ ГА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студенты направления «Беспилотные авиационные системы» и их преподаватель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0" dirty="0">
                <a:solidFill>
                  <a:schemeClr val="tx1"/>
                </a:solidFill>
              </a:rPr>
              <a:t>три студента группы БАС241 и старший преподаватель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0" dirty="0">
                <a:solidFill>
                  <a:schemeClr val="tx1"/>
                </a:solidFill>
              </a:rPr>
              <a:t>МГТУ ГА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Работодатель сам находит специалиста: описывает потребность, видит подходящие категории «специализация + грейд» и ранжированную подборку с объяснением каждого места, приглашает с зарплатой от–до. Контакты открываются, когда кандидат принял приглашение.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54" y="335267"/>
            <a:ext cx="4754854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Данные, валидация, документация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@IFELY363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+7 962 631-74-67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МГТУ ГА, гр. БАС241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Антон Ямкин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Бэкенд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@Aurhim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+7 929 035-59-77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МГТУ ГА, гр. БАС241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 Минаев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Тестирование, разметка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@telpanis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+7 912 168-29-95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МГТУ ГА, гр. БАС241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Анастасия Желудева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vitkovsky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4925" b="4925"/>
          <a:stretch>
            <a:fillRect/>
          </a:stretch>
        </p:blipFill>
        <p:spPr>
          <a:xfrm>
            <a:off x="581397" y="1816054"/>
            <a:ext cx="1722566" cy="1552901"/>
          </a:xfrm>
        </p:spPr>
      </p:pic>
      <p:pic>
        <p:nvPicPr>
          <p:cNvPr id="3" name="Рисунок 2" descr="yamkin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17283" b="16063" l="-15321" r="-16867"/>
          <a:stretch>
            <a:fillRect/>
          </a:stretch>
        </p:blipFill>
        <p:spPr>
          <a:xfrm>
            <a:off x="2886467" y="1826554"/>
            <a:ext cx="1722566" cy="1542401"/>
          </a:xfrm>
        </p:spPr>
      </p:pic>
      <p:pic>
        <p:nvPicPr>
          <p:cNvPr id="4" name="Рисунок 3" descr="minae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t="2736" b="41997" l="11982" r="11990"/>
          <a:stretch>
            <a:fillRect/>
          </a:stretch>
        </p:blipFill>
        <p:spPr>
          <a:xfrm>
            <a:off x="5191784" y="1809238"/>
            <a:ext cx="1722567" cy="1559717"/>
          </a:xfrm>
        </p:spPr>
      </p:pic>
      <p:pic>
        <p:nvPicPr>
          <p:cNvPr id="5" name="Рисунок 4" descr="zheludeva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7"/>
          <a:srcRect b="13149" l="-13939" r="-13939"/>
          <a:stretch>
            <a:fillRect/>
          </a:stretch>
        </p:blipFill>
        <p:spPr>
          <a:xfrm>
            <a:off x="7520208" y="1809238"/>
            <a:ext cx="1722567" cy="1559717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фронтенд, сервер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@Sieg_Ykrop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+7 985 490-67-29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МГТУ ГА, ст. преподаватель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Евгений Витковский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Студенты группы БАС241 МГТУ ГА и наш старший преподаватель. До спецтрека вместе прошли основной трек ЛЦТ-2026 — задачу «Геоскана» по планированию полётов БВС.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Сутки и четыре человека, у каждого свой ИИ-агент. Заранее зафиксировали общий контракт (API, форматы данных, функции ядра) и работали параллельно. Подбор проверяли на скрытой правде и второй независимой разметке, чтобы не проверять формулу самой собой.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Сложности и как справились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Мы сами студенты: опыта в резюме мало, а навыки есть. Хотим, чтобы работодатель видел подтверждённый уровень и находил таких, как мы, сам.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задача ФСП?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Категория = специализация + грейд; грейд подтверждает только экспресс-тест: 10 заданий, 5 минут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Параметрические шаблоны с персональным сидом, сложность по модели Раша, адаптивный подбор заданий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Подбор: навыки 40 %, тест 30 %, результаты ФСП 15 %, свежесть 10 %, пожелания 5 %; у каждого места — объяснение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FSP ID: имитация входа через Keycloak (OIDC), результаты ФСП импортируются как подтверждённые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Python · FastAPI · PostgreSQL · React · Docker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rgbClr val="1C1D22"/>
                </a:solidFill>
              </a:rPr>
              <a:t>Работодатель сам выходит на кандидата и приглашает с зарплатой от–до</a:t>
            </a:r>
          </a:p>
          <a:p>
            <a:r>
              <a:rPr lang="ru-RU" sz="1400" dirty="0">
                <a:solidFill>
                  <a:srgbClr val="1C1D22"/>
                </a:solidFill>
              </a:rPr>
              <a:t>Кандидат без истории ФСП не проигрывает: решают тест и навыки</a:t>
            </a:r>
          </a:p>
          <a:p>
            <a:r>
              <a:rPr lang="ru-RU" sz="1400" dirty="0">
                <a:solidFill>
                  <a:srgbClr val="1C1D22"/>
                </a:solidFill>
              </a:rPr>
              <a:t>Контакты скрыты до согласия кандидата</a:t>
            </a:r>
          </a:p>
          <a:p>
            <a:r>
              <a:rPr lang="ru-RU" sz="1400" dirty="0">
                <a:solidFill>
                  <a:srgbClr val="1C1D22"/>
                </a:solidFill>
              </a:rPr>
              <a:t>Развитие: регулярные задания работодателей, защита от фиктивных вакансий, интеграция с ATS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 indent="0" marL="0">
              <a:buNone/>
            </a:pPr>
            <a:r>
              <a:rPr b="1" sz="1400">
                <a:solidFill>
                  <a:srgbClr val="1C1D22"/>
                </a:solidFill>
              </a:rPr>
              <a:t>Репозиторий (код, документация):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0" sz="1400">
                <a:solidFill>
                  <a:srgbClr val="1C1D22"/>
                </a:solidFill>
              </a:rPr>
              <a:t>github.com/Wit-Sky/fsp-lct2026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1" sz="1400">
                <a:solidFill>
                  <a:srgbClr val="1C1D22"/>
                </a:solidFill>
              </a:rPr>
              <a:t>Живая демонстрация: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0" sz="1400">
                <a:solidFill>
                  <a:srgbClr val="1C1D22"/>
                </a:solidFill>
              </a:rPr>
              <a:t>https://81-26-180-5.sslip.io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1" sz="1400">
                <a:solidFill>
                  <a:srgbClr val="1C1D22"/>
                </a:solidFill>
              </a:rPr>
              <a:t>Запуск: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0" sz="1400">
                <a:solidFill>
                  <a:srgbClr val="1C1D22"/>
                </a:solidFill>
              </a:rPr>
              <a:t>docker compose up --build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1" sz="1400">
                <a:solidFill>
                  <a:srgbClr val="1C1D22"/>
                </a:solidFill>
              </a:rPr>
              <a:t>Документация: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0" sz="1400">
                <a:solidFill>
                  <a:srgbClr val="1C1D22"/>
                </a:solidFill>
              </a:rPr>
              <a:t>docs/ — архитектура, тестирование, подбор, валидация, API, FSP ID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b="1">
                <a:solidFill>
                  <a:srgbClr val="520978"/>
                </a:solidFill>
              </a:rPr>
              <a:t>СПАСИБО!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t>СЛИВ ОТВЕТОВ НЕ ПОМОГАЕТ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4_le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3707" y="1556279"/>
            <a:ext cx="5149981" cy="37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b="1">
                <a:solidFill>
                  <a:srgbClr val="520978"/>
                </a:solidFill>
              </a:rPr>
              <a:t>ОГРАНИЧЕНИЯ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FSP ID и подтверждение email на демо — имитация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Сложность шаблонов откалибрована на симуляции; нужна калибровка на живых ответах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Валидация — на синтетических кандидатах со скрытой правдой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Короткий тест: точный грейд в 64 % случаев, ошибка больше ступени — 1,7 %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Свободный ответ — только в регулярных заданиях работодателя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0513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Тест нельзя слить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у каждого кандидата свои варианты; проверено симуляцией слива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Объяснимый подбор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у каждого места в подборке — факторы и их вклад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Без ФСП — не хуже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результаты ФСП только добавляют, но не заменяют тест и навыки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Честная проверка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разметка по скрытой правде и вторая независимая разметка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В ЧЁМ УНИКАЛЬНОСТЬ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Вход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authorization code через Keycloak ФСП; на демо — имитация с тем же обменом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Учётная запись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внешняя учётная запись provider = fsp привязывается к профилю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Результаты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импорт подтверждённых результатов с полем source; нет истории — путь не блокируется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b="1">
                <a:solidFill>
                  <a:srgbClr val="520978"/>
                </a:solidFill>
              </a:rPr>
              <a:t>ИНТЕГРАЦИЯ С FSP ID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OIDC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ID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ФСП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Антифейк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рейтинг ответов работодателя, доля приглашений без найма, метка ИНН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ATS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вебхуки статусов и экспорт кандидата в JSON / HR-XML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Задания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регулярные задания от работодателей со свободным ответом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Калибровка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сложность шаблонов по живым ответам, метка «скомпрометирован»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Источники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олимпиады и хакатоны как ещё один источник подтверждённых результатов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16–17 лет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согласие родителя, 152-ФЗ, стажировки для студентов колледжей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ПЛАН РАЗВИТИЯ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5445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1C1D22"/>
                </a:solidFill>
              </a:rPr>
              <a:t>Грейд подтверждает только тест по категории; уровень кандидат выбирает сам.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1C1D22"/>
                </a:solidFill>
              </a:rPr>
              <a:t>Результаты ФСП ранжируют только внутри категории: все дисциплины равны, ×1,5 за близость к специализации.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1C1D22"/>
                </a:solidFill>
              </a:rPr>
              <a:t>Путь без истории ФСП — обязательный и полноценный.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1C1D22"/>
                </a:solidFill>
              </a:rPr>
              <a:t>Регистрация по email с кодом; FSP ID на демо — имитация Keycloak.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Зарплата в вакансии и приглашении: от–до, гросс или нетто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Контакты скрыты до принятия приглашения или отклика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Повтор того же грейда — через 30 дней, ниже — сразу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Не подтвердил — статус «не подтверждён», не прячем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Младше 18 лет — согласие родителя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ПРАВИЛА ЭКСПЕРТОВ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56 % — тот же грейд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при повторном тесте на других вариантах заданий; r(θ₁, θ₂) = 0,71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+0,09 к θ от слива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ответы 50 других кандидатов почти не помогают; при едином тесте для всех +2,82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κ = 0,64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согласие двух независимых разметок пар «потребность — кандидат»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30828" cy="376138"/>
          </a:xfrm>
        </p:spPr>
        <p:txBody>
          <a:bodyPr/>
          <a:lstStyle/>
          <a:p>
            <a:r>
              <a:t>ВАЛИДАЦИЯ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64185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spcAft>
                <a:spcPts val="800"/>
              </a:spcAft>
              <a:buNone/>
            </a:pPr>
            <a:r>
              <a:rPr b="1" sz="1900">
                <a:solidFill>
                  <a:srgbClr val="1C1D22"/>
                </a:solidFill>
              </a:rPr>
              <a:t>Свои варианты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spcAft>
                <a:spcPts val="800"/>
              </a:spcAft>
              <a:buNone/>
            </a:pPr>
            <a:r>
              <a:rPr sz="1700">
                <a:solidFill>
                  <a:srgbClr val="1C1D22"/>
                </a:solidFill>
              </a:rPr>
              <a:t>Шаблон задания генерирует числа, код и порядок ответов из сида кандидата; правильный ответ считает код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spcAft>
                <a:spcPts val="800"/>
              </a:spcAft>
              <a:buNone/>
            </a:pPr>
            <a:r>
              <a:rPr b="1" sz="1900">
                <a:solidFill>
                  <a:srgbClr val="1C1D22"/>
                </a:solidFill>
              </a:rPr>
              <a:t>Модель Раша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spcAft>
                <a:spcPts val="800"/>
              </a:spcAft>
              <a:buNone/>
            </a:pPr>
            <a:r>
              <a:rPr sz="1700">
                <a:solidFill>
                  <a:srgbClr val="1C1D22"/>
                </a:solidFill>
              </a:rPr>
              <a:t>У шаблона известна сложность b; первые задания — у заявленного грейда, дальше сложнее или проще по ответам; θ — по максимуму правдоподобия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spcAft>
                <a:spcPts val="800"/>
              </a:spcAft>
              <a:buNone/>
            </a:pPr>
            <a:r>
              <a:rPr b="1" sz="1900">
                <a:solidFill>
                  <a:srgbClr val="1C1D22"/>
                </a:solidFill>
              </a:rPr>
              <a:t>Честные правила</a:t>
            </a:r>
            <a:endParaRPr lang="ru-RU">
              <a:solidFill>
                <a:schemeClr val="tx1"/>
              </a:solidFill>
            </a:endParaRPr>
          </a:p>
          <a:p>
            <a:pPr indent="0" marL="0">
              <a:spcAft>
                <a:spcPts val="800"/>
              </a:spcAft>
              <a:buNone/>
            </a:pPr>
            <a:r>
              <a:rPr sz="1700">
                <a:solidFill>
                  <a:srgbClr val="1C1D22"/>
                </a:solidFill>
              </a:rPr>
              <a:t>Грейд выбирает кандидат; не подтвердил — виден ниже, но не скрыт; повтор через 30 дней, на уровень ниже — сразу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МЕХАНИКА ТЕСТИРОВАНИЯ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6261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Потребность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специализация, грейд, навыки с весами, зарплата от–до, гросс или нетто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ранжирование и «почему он здесь»; фильтры не сбрасывают запрос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Контакт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кандидат принял приглашение — контакты открылись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Категории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сколько подтверждённых кандидатов в каждой категории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адресное: сообщение, зарплата, способ связи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ОТ ПОТРЕБНОСТИ ДО КОНТАКТА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Демо-кандидат и демо-работодатель — вход одной кнопкой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Экспресс-тест 3–5 минут, подборка с объяснением, приглашение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Живая демонстрация:</a:t>
            </a:r>
            <a:endParaRPr lang="ru-RU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https://81-26-180-5.sslip.io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ДЕМОНСТРАЦИЯ</a:t>
            </a:r>
            <a:endParaRPr lang="ru-RU" dirty="0"/>
          </a:p>
        </p:txBody>
      </p:sp>
      <p:pic>
        <p:nvPicPr>
          <p:cNvPr id="13" name="Picture 12" descr="ui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417" y="1191702"/>
            <a:ext cx="3988905" cy="29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